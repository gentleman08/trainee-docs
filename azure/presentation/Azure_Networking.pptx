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☁️  CLOUD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Azure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Core Services  •  Architecture Patterns  • 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Professional Reference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What We'll </a:t>
            </a:r>
            <a:r>
              <a:rPr sz="3600" b="1">
                <a:solidFill>
                  <a:srgbClr val="3B82F6"/>
                </a:solidFill>
                <a:latin typeface="Calibri"/>
              </a:rPr>
              <a:t>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Virtual Networks (VNet)</a:t>
            </a:r>
            <a:r>
              <a:rPr sz="1800">
                <a:solidFill>
                  <a:srgbClr val="94A3B8"/>
                </a:solidFill>
                <a:latin typeface="Calibri"/>
              </a:rPr>
              <a:t> — Foundation of Azure networking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Subnets &amp; NSGs</a:t>
            </a:r>
            <a:r>
              <a:rPr sz="1800">
                <a:solidFill>
                  <a:srgbClr val="94A3B8"/>
                </a:solidFill>
                <a:latin typeface="Calibri"/>
              </a:rPr>
              <a:t> — Segmentation and traffic filtering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Load Balancing</a:t>
            </a:r>
            <a:r>
              <a:rPr sz="1800">
                <a:solidFill>
                  <a:srgbClr val="94A3B8"/>
                </a:solidFill>
                <a:latin typeface="Calibri"/>
              </a:rPr>
              <a:t> — L4 Load Balancer, L7 App Gateway, Front Door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DNS &amp; Traffic Manager</a:t>
            </a:r>
            <a:r>
              <a:rPr sz="1800">
                <a:solidFill>
                  <a:srgbClr val="94A3B8"/>
                </a:solidFill>
                <a:latin typeface="Calibri"/>
              </a:rPr>
              <a:t> — Name resolution and global routing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Hybrid Connectivity</a:t>
            </a:r>
            <a:r>
              <a:rPr sz="1800">
                <a:solidFill>
                  <a:srgbClr val="94A3B8"/>
                </a:solidFill>
                <a:latin typeface="Calibri"/>
              </a:rPr>
              <a:t> — VPN Gateway &amp; ExpressRoute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Security Services</a:t>
            </a:r>
            <a:r>
              <a:rPr sz="1800">
                <a:solidFill>
                  <a:srgbClr val="94A3B8"/>
                </a:solidFill>
                <a:latin typeface="Calibri"/>
              </a:rPr>
              <a:t> — Firewall, Bastion, Private Link, DDoS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Architecture Patterns</a:t>
            </a:r>
            <a:r>
              <a:rPr sz="1800">
                <a:solidFill>
                  <a:srgbClr val="94A3B8"/>
                </a:solidFill>
                <a:latin typeface="Calibri"/>
              </a:rPr>
              <a:t> — Hub-Spoke, Zero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Virtual Network </a:t>
            </a:r>
            <a:r>
              <a:rPr sz="3600" b="1">
                <a:solidFill>
                  <a:srgbClr val="3B82F6"/>
                </a:solidFill>
                <a:latin typeface="Calibri"/>
              </a:rPr>
              <a:t>(VNet)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What Is a VNet?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Isolated private network in Azure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Address space via CIDR (e.g. 10.0.0.0/16)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Scoped to a single Azure region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Segmented into subnets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Free</a:t>
            </a:r>
            <a:r>
              <a:rPr sz="1300">
                <a:solidFill>
                  <a:srgbClr val="94A3B8"/>
                </a:solidFill>
                <a:latin typeface="Calibri"/>
              </a:rPr>
              <a:t> — no cost for VNet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All Azure resources live inside a VNet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Cross-VNet via Peering or VPN Gateway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Supports UDR (User Defined Routes)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Built-in DDoS Basic protection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DNS: Azure-provided or custom DNS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Subnets &amp; </a:t>
            </a:r>
            <a:r>
              <a:rPr sz="3600" b="1">
                <a:solidFill>
                  <a:srgbClr val="3B82F6"/>
                </a:solidFill>
                <a:latin typeface="Calibri"/>
              </a:rPr>
              <a:t>NSGs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Subnets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Subdivisions of VNet address space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Azure reserves 5 IPs per subnet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Resources in same VNet talk freely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Dedicated: GatewaySubnet, AzureFirewallSubnet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Min size /29, recommended /24 or larger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Network Security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Stateful L3/L4 firewall rules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Filter by src/dst IP, port, protocol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Priority: 100–4096 (lower = first)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Default: allow VNet↔VNet, deny internet in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Attach to subnet or NIC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Load Balancing </a:t>
            </a:r>
            <a:r>
              <a:rPr sz="3600" b="1">
                <a:solidFill>
                  <a:srgbClr val="3B82F6"/>
                </a:solidFill>
                <a:latin typeface="Calibri"/>
              </a:rPr>
              <a:t>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Azure Load Balancer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Layer 4 (TCP/UDP)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Regional scope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Millions of flows/sec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Public or Internal SKU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Health probes for backends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Application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Layer 7 (HTTP/HTTPS)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URL-based routing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SSL offload &amp; WAF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Cookie-based affinity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Autoscaling v2 SKU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6576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Azure Front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Global Layer 7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CDN + LB + WAF combined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Anycast acceleration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Instant global failover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Custom domain + managed certs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03 —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Which </a:t>
            </a:r>
            <a:r>
              <a:rPr sz="3600" b="1">
                <a:solidFill>
                  <a:srgbClr val="3B82F6"/>
                </a:solidFill>
                <a:latin typeface="Calibri"/>
              </a:rPr>
              <a:t>Load Balancer?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214884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920240"/>
            <a:ext cx="214884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Load Balancer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920240"/>
            <a:ext cx="214884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011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App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920240"/>
            <a:ext cx="214884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Front Door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920240"/>
            <a:ext cx="214884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011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Traffic Mgr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6888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46888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560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L4 TCP/UDP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46888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560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L7 HTTP/S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246888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60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L7 HTTP/S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46888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560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DNS-based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01752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301752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Regional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301752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Regional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301752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301752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56616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657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WAF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56616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657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356616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3657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0" y="356616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3657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356616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3657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1148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206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SSL Offload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08960" y="41148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4206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0" y="41148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0" y="4206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0" y="41148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4206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411480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4206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466344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754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URL Routing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108960" y="466344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4754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0" y="466344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0" y="4754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98080" y="466344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0" y="4754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92640" y="4663440"/>
            <a:ext cx="214884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84080" y="4754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521208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" y="5303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108960" y="521208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5303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VM fleet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03520" y="521208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4960" y="5303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Web in region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80" y="521208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89520" y="5303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Global web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640" y="5212080"/>
            <a:ext cx="21488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53035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DNS failover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VNet </a:t>
            </a:r>
            <a:r>
              <a:rPr sz="3600" b="1">
                <a:solidFill>
                  <a:srgbClr val="3B82F6"/>
                </a:solidFill>
                <a:latin typeface="Calibri"/>
              </a:rPr>
              <a:t>Peering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Connects two VNets via Microsoft backbone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Private, low-latency, high-bandwidth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Regional peering</a:t>
            </a:r>
            <a:r>
              <a:rPr sz="1300">
                <a:solidFill>
                  <a:srgbClr val="94A3B8"/>
                </a:solidFill>
                <a:latin typeface="Calibri"/>
              </a:rPr>
              <a:t> — free data transfer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Global peering</a:t>
            </a:r>
            <a:r>
              <a:rPr sz="1300">
                <a:solidFill>
                  <a:srgbClr val="94A3B8"/>
                </a:solidFill>
                <a:latin typeface="Calibri"/>
              </a:rPr>
              <a:t> — cross-region, egress cost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Non-transitive: A↔B + B↔C ≠ A↔C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No overlapping CIDR ranges allowed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Common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Hub VNet: shared services (FW, VPN, DNS)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Spoke VNets: workload-specific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Each Spoke peers with Hub only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Use UDR to force traffic through Hub FW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Scales to 500 peerings per VNet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Azure </a:t>
            </a:r>
            <a:r>
              <a:rPr sz="3600" b="1">
                <a:solidFill>
                  <a:srgbClr val="3B82F6"/>
                </a:solidFill>
                <a:latin typeface="Calibri"/>
              </a:rPr>
              <a:t>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Public DNS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Host domain records on Azure nameservers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A, CNAME, MX, TXT, SRV records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100% availability SLA with anycast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Alias records for Azure resources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RBAC-controlled DNS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Private DNS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Internal name resolution inside VNets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No custom DNS server needed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Auto-registration of VM hostnames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Link to multiple VNets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Critical for Private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Hybrid </a:t>
            </a:r>
            <a:r>
              <a:rPr sz="3600" b="1">
                <a:solidFill>
                  <a:srgbClr val="3B82F6"/>
                </a:solidFill>
                <a:latin typeface="Calibri"/>
              </a:rPr>
              <a:t>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VPN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IPsec tunnel over public internet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Site-to-Site: DC ↔ Azure VNet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Point-to-Site: laptop ↔ Azure VNet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Up to 10 Gbps (VpnGw5 SKU)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Active-Active for high availability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Requires GatewaySubnet (/27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ExpressRoute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Private dedicated fiber</a:t>
            </a:r>
            <a:r>
              <a:rPr sz="1300">
                <a:solidFill>
                  <a:srgbClr val="94A3B8"/>
                </a:solidFill>
                <a:latin typeface="Calibri"/>
              </a:rPr>
              <a:t> — not over internet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50 Mbps – 100 Gbps speeds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Predictable latency, high reliability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BGP dynamic routing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99.95% SLA (99.99% redundant)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Use for mission-critical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Network </a:t>
            </a:r>
            <a:r>
              <a:rPr sz="3600" b="1">
                <a:solidFill>
                  <a:srgbClr val="3B82F6"/>
                </a:solidFill>
                <a:latin typeface="Calibri"/>
              </a:rPr>
              <a:t>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Azure 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Managed L3–L7 firewall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FQDN filtering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Threat intelligence feed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Centralized in Hub VNet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Azure Bastion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Managed jump host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RDP/SSH via browser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No public IPs on VMs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Zero-attack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Private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Private IP for PaaS services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SQL, Storage, Key Vault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Traffic on MS backbone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Disable public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828800"/>
            <a:ext cx="2743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DDoS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Always-on monitoring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Basic: free, auto-enabled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Standard: adaptive tuning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Cost protection guarantee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07 —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Private Endpoints vs </a:t>
            </a:r>
            <a:r>
              <a:rPr sz="3600" b="1">
                <a:solidFill>
                  <a:srgbClr val="3B82F6"/>
                </a:solidFill>
                <a:latin typeface="Calibri"/>
              </a:rPr>
              <a:t>Service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333756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33756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Service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20240"/>
            <a:ext cx="3337560" cy="502920"/>
          </a:xfrm>
          <a:prstGeom prst="round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Private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Mechanism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6888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Optimized route to PaaS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46888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Private IP (NIC) in VNet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PaaS Public 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01752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108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Still exists (restricted)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01752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108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Can disable completely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6616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576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On-Prem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56616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✗  VNet traffic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56616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6576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✓  Via VPN / ExpressRoute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1480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06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DNS 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11480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206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411480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06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Yes — Private DNS Zone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66344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754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66344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4754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663440"/>
            <a:ext cx="33375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7548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~$7.30/mo +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21208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303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21208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5303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Dev/test, quick wins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5212080"/>
            <a:ext cx="333756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3035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Production — full isolation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Hub-Spoke </a:t>
            </a:r>
            <a:r>
              <a:rPr sz="3600" b="1">
                <a:solidFill>
                  <a:srgbClr val="3B82F6"/>
                </a:solidFill>
                <a:latin typeface="Calibr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Hub VNet — Shared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Azure Firewall</a:t>
            </a:r>
            <a:r>
              <a:rPr sz="1300">
                <a:solidFill>
                  <a:srgbClr val="94A3B8"/>
                </a:solidFill>
                <a:latin typeface="Calibri"/>
              </a:rPr>
              <a:t> — centralized traffic inspection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VPN/ExpressRoute Gateway</a:t>
            </a:r>
            <a:r>
              <a:rPr sz="1300">
                <a:solidFill>
                  <a:srgbClr val="94A3B8"/>
                </a:solidFill>
                <a:latin typeface="Calibri"/>
              </a:rPr>
              <a:t> — hybrid connectivity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Bastion Host</a:t>
            </a:r>
            <a:r>
              <a:rPr sz="1300">
                <a:solidFill>
                  <a:srgbClr val="94A3B8"/>
                </a:solidFill>
                <a:latin typeface="Calibri"/>
              </a:rPr>
              <a:t> — secure admin access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DNS servers</a:t>
            </a:r>
            <a:r>
              <a:rPr sz="1300">
                <a:solidFill>
                  <a:srgbClr val="94A3B8"/>
                </a:solidFill>
                <a:latin typeface="Calibri"/>
              </a:rPr>
              <a:t> — centralized resolution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All spoke traffic routes through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4864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1F5F9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Calibri"/>
              </a:defRPr>
            </a:pPr>
            <a:r>
              <a:t>Spoke VNets — Workloads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Spoke 1 (Prod)</a:t>
            </a:r>
            <a:r>
              <a:rPr sz="1300">
                <a:solidFill>
                  <a:srgbClr val="94A3B8"/>
                </a:solidFill>
                <a:latin typeface="Calibri"/>
              </a:rPr>
              <a:t> — Web + API + databases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Spoke 2 (Dev)</a:t>
            </a:r>
            <a:r>
              <a:rPr sz="1300">
                <a:solidFill>
                  <a:srgbClr val="94A3B8"/>
                </a:solidFill>
                <a:latin typeface="Calibri"/>
              </a:rPr>
              <a:t> — Test &amp; staging environments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 b="1">
                <a:solidFill>
                  <a:srgbClr val="F1F5F9"/>
                </a:solidFill>
                <a:latin typeface="Calibri"/>
              </a:rPr>
              <a:t>Spoke 3 (DMZ)</a:t>
            </a:r>
            <a:r>
              <a:rPr sz="1300">
                <a:solidFill>
                  <a:srgbClr val="94A3B8"/>
                </a:solidFill>
                <a:latin typeface="Calibri"/>
              </a:rPr>
              <a:t> — Public-facing services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Spokes isolated from each other by default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→  </a:t>
            </a:r>
            <a:r>
              <a:rPr sz="1300">
                <a:solidFill>
                  <a:srgbClr val="94A3B8"/>
                </a:solidFill>
                <a:latin typeface="Calibri"/>
              </a:rPr>
              <a:t>UDRs force traffic through Hub Firewall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04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1F5F9"/>
                </a:solidFill>
                <a:latin typeface="Calibri"/>
              </a:rPr>
              <a:t>Key </a:t>
            </a:r>
            <a:r>
              <a:rPr sz="3600" b="1">
                <a:solidFill>
                  <a:srgbClr val="3B82F6"/>
                </a:solidFill>
                <a:latin typeface="Calibr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VNet is your foundation</a:t>
            </a:r>
            <a:r>
              <a:rPr sz="1800">
                <a:solidFill>
                  <a:srgbClr val="94A3B8"/>
                </a:solidFill>
                <a:latin typeface="Calibri"/>
              </a:rPr>
              <a:t> — design address spaces before deploying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NSGs are first defense</a:t>
            </a:r>
            <a:r>
              <a:rPr sz="1800">
                <a:solidFill>
                  <a:srgbClr val="94A3B8"/>
                </a:solidFill>
                <a:latin typeface="Calibri"/>
              </a:rPr>
              <a:t> — apply at subnet level with deny-all baseline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Use Private Endpoints</a:t>
            </a:r>
            <a:r>
              <a:rPr sz="1800">
                <a:solidFill>
                  <a:srgbClr val="94A3B8"/>
                </a:solidFill>
                <a:latin typeface="Calibri"/>
              </a:rPr>
              <a:t> — eliminate public exposure for PaaS services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Pick the right LB</a:t>
            </a:r>
            <a:r>
              <a:rPr sz="1800">
                <a:solidFill>
                  <a:srgbClr val="94A3B8"/>
                </a:solidFill>
                <a:latin typeface="Calibri"/>
              </a:rPr>
              <a:t> — L4 for VMs, App GW for web, Front Door for global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Hub-Spoke for enterprise</a:t>
            </a:r>
            <a:r>
              <a:rPr sz="1800">
                <a:solidFill>
                  <a:srgbClr val="94A3B8"/>
                </a:solidFill>
                <a:latin typeface="Calibri"/>
              </a:rPr>
              <a:t> — centralize firewall and gateway in hub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ExpressRoute for production</a:t>
            </a:r>
            <a:r>
              <a:rPr sz="1800">
                <a:solidFill>
                  <a:srgbClr val="94A3B8"/>
                </a:solidFill>
                <a:latin typeface="Calibri"/>
              </a:rPr>
              <a:t> — VPN for dev, ER for mission-critical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→  </a:t>
            </a:r>
            <a:r>
              <a:rPr sz="1800" b="1">
                <a:solidFill>
                  <a:srgbClr val="F1F5F9"/>
                </a:solidFill>
                <a:latin typeface="Calibri"/>
              </a:rPr>
              <a:t>Network Watcher is your debugger</a:t>
            </a:r>
            <a:r>
              <a:rPr sz="1800">
                <a:solidFill>
                  <a:srgbClr val="94A3B8"/>
                </a:solidFill>
                <a:latin typeface="Calibri"/>
              </a:rPr>
              <a:t> — IP Flow Verify &amp; Connection Troubleshoot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Azure Networking — Core Services, Architecture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Questions? 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